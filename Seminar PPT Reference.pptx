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5"/>
  </p:notesMasterIdLst>
  <p:sldIdLst>
    <p:sldId id="256" r:id="rId2"/>
    <p:sldId id="257" r:id="rId3"/>
    <p:sldId id="258" r:id="rId4"/>
    <p:sldId id="259" r:id="rId5"/>
    <p:sldId id="260" r:id="rId6"/>
    <p:sldId id="261" r:id="rId7"/>
    <p:sldId id="266" r:id="rId8"/>
    <p:sldId id="268" r:id="rId9"/>
    <p:sldId id="262" r:id="rId10"/>
    <p:sldId id="267" r:id="rId11"/>
    <p:sldId id="263" r:id="rId12"/>
    <p:sldId id="264" r:id="rId13"/>
    <p:sldId id="265" r:id="rId14"/>
  </p:sldIdLst>
  <p:sldSz cx="9144000" cy="5143500" type="screen16x9"/>
  <p:notesSz cx="6858000" cy="9144000"/>
  <p:embeddedFontLst>
    <p:embeddedFont>
      <p:font typeface="Catamaran Light" panose="020B0604020202020204" charset="0"/>
      <p:regular r:id="rId16"/>
      <p:bold r:id="rId17"/>
    </p:embeddedFont>
    <p:embeddedFont>
      <p:font typeface="Livvic"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87A98B-F25F-4AB7-94FB-3999348E116A}">
  <a:tblStyle styleId="{A687A98B-F25F-4AB7-94FB-3999348E11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3294" autoAdjust="0"/>
  </p:normalViewPr>
  <p:slideViewPr>
    <p:cSldViewPr snapToGrid="0">
      <p:cViewPr>
        <p:scale>
          <a:sx n="76" d="100"/>
          <a:sy n="76" d="100"/>
        </p:scale>
        <p:origin x="948" y="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9E06400-599E-6689-9B75-0594B6419D3A}"/>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52EF7768-01FC-5231-9DEA-F07BD0AAC5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0CF839F4-5F96-79D3-1720-C787E59295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8908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07A9BD7-38B5-90D4-1793-646980AA31A4}"/>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826B4040-1F0E-6CD8-4EEA-21ADD14639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A3A49911-726A-D09E-AEFD-7541854FDC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7679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20D8898-73F4-8F33-298D-83F4F01DC417}"/>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5F09EDF6-78FA-A280-BBE5-FD2C943FAE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111AD129-7659-614F-D666-498B7E3C71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850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840734B-2197-4144-E37B-C16C48F99DF4}"/>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B752E67E-361B-3FFD-83F6-B8BE7BDFB1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ED1F9DE7-1E9B-C8D6-C06D-F35A212926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7088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74881162-514E-D996-1FD3-6622B3D45E7C}"/>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B8F5CFA0-9C0E-A40E-C900-C15FC55787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9DEF3260-BF3A-B53E-8616-76229A3584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8350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6EED103-ABBA-0395-1AD9-4779B66A6FEE}"/>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B5D44DB9-B4AC-4407-4CB1-2CE7F3B39D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43009BBA-2CCD-8B40-9C68-9080E423F2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4360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5A2D9D8-E783-40FA-3469-3701B3B07C06}"/>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3EC257C6-9A03-89EB-2044-B63B25B614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B0C00C01-72D5-CDA0-8116-069A8913B2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4124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A3005FC2-60AA-D732-9947-AB54BF20909D}"/>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D4B4C787-8393-36BF-5F7E-61C30307F8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8519EE29-3D51-A87E-C31B-554BF56284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3955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A0C400F-7A75-358C-67D6-CB0D063467CF}"/>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7AE44F34-9EA4-A6BF-4120-E53ACCCEFD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F8676FB2-1961-0BA6-1AE0-EFDED6729B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1380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CE6B07E-CF7F-FD8C-2166-DF5233DCB47A}"/>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747226F4-9340-5C69-1F12-7973695B26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AE1EF372-BBE7-B96A-5C7A-A6CBEC8336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2013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146254F-80B5-130C-69E3-5FC2AC62E519}"/>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A5978E6D-2641-3F8A-5D6E-219AC94A9B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87876071-E267-E844-16E5-E2745CD8A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88737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6D30A6E-BE3B-A2AA-EA65-BDCB9F70A1DD}"/>
            </a:ext>
          </a:extLst>
        </p:cNvPr>
        <p:cNvGrpSpPr/>
        <p:nvPr/>
      </p:nvGrpSpPr>
      <p:grpSpPr>
        <a:xfrm>
          <a:off x="0" y="0"/>
          <a:ext cx="0" cy="0"/>
          <a:chOff x="0" y="0"/>
          <a:chExt cx="0" cy="0"/>
        </a:xfrm>
      </p:grpSpPr>
      <p:sp>
        <p:nvSpPr>
          <p:cNvPr id="120" name="Google Shape;120;g4dfce81f19_0_45:notes">
            <a:extLst>
              <a:ext uri="{FF2B5EF4-FFF2-40B4-BE49-F238E27FC236}">
                <a16:creationId xmlns:a16="http://schemas.microsoft.com/office/drawing/2014/main" id="{23F9ACAF-7179-CA67-8DA6-84A8E08869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4dfce81f19_0_45:notes">
            <a:extLst>
              <a:ext uri="{FF2B5EF4-FFF2-40B4-BE49-F238E27FC236}">
                <a16:creationId xmlns:a16="http://schemas.microsoft.com/office/drawing/2014/main" id="{B57C0533-6215-01DB-0C05-350CC3CD1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34548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userDrawn="1">
  <p:cSld name="CUSTOM_7">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575" y="1701225"/>
            <a:ext cx="4592400" cy="17823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Clr>
                <a:srgbClr val="434343"/>
              </a:buClr>
              <a:buSzPts val="4800"/>
              <a:buNone/>
              <a:defRPr sz="4800">
                <a:solidFill>
                  <a:srgbClr val="434343"/>
                </a:solidFill>
              </a:defRPr>
            </a:lvl2pPr>
            <a:lvl3pPr lvl="2" rtl="0">
              <a:spcBef>
                <a:spcPts val="0"/>
              </a:spcBef>
              <a:spcAft>
                <a:spcPts val="0"/>
              </a:spcAft>
              <a:buClr>
                <a:srgbClr val="434343"/>
              </a:buClr>
              <a:buSzPts val="4800"/>
              <a:buNone/>
              <a:defRPr sz="4800">
                <a:solidFill>
                  <a:srgbClr val="434343"/>
                </a:solidFill>
              </a:defRPr>
            </a:lvl3pPr>
            <a:lvl4pPr lvl="3" rtl="0">
              <a:spcBef>
                <a:spcPts val="0"/>
              </a:spcBef>
              <a:spcAft>
                <a:spcPts val="0"/>
              </a:spcAft>
              <a:buClr>
                <a:srgbClr val="434343"/>
              </a:buClr>
              <a:buSzPts val="4800"/>
              <a:buNone/>
              <a:defRPr sz="4800">
                <a:solidFill>
                  <a:srgbClr val="434343"/>
                </a:solidFill>
              </a:defRPr>
            </a:lvl4pPr>
            <a:lvl5pPr lvl="4" rtl="0">
              <a:spcBef>
                <a:spcPts val="0"/>
              </a:spcBef>
              <a:spcAft>
                <a:spcPts val="0"/>
              </a:spcAft>
              <a:buClr>
                <a:srgbClr val="434343"/>
              </a:buClr>
              <a:buSzPts val="4800"/>
              <a:buNone/>
              <a:defRPr sz="4800">
                <a:solidFill>
                  <a:srgbClr val="434343"/>
                </a:solidFill>
              </a:defRPr>
            </a:lvl5pPr>
            <a:lvl6pPr lvl="5" rtl="0">
              <a:spcBef>
                <a:spcPts val="0"/>
              </a:spcBef>
              <a:spcAft>
                <a:spcPts val="0"/>
              </a:spcAft>
              <a:buClr>
                <a:srgbClr val="434343"/>
              </a:buClr>
              <a:buSzPts val="4800"/>
              <a:buNone/>
              <a:defRPr sz="4800">
                <a:solidFill>
                  <a:srgbClr val="434343"/>
                </a:solidFill>
              </a:defRPr>
            </a:lvl6pPr>
            <a:lvl7pPr lvl="6" rtl="0">
              <a:spcBef>
                <a:spcPts val="0"/>
              </a:spcBef>
              <a:spcAft>
                <a:spcPts val="0"/>
              </a:spcAft>
              <a:buClr>
                <a:srgbClr val="434343"/>
              </a:buClr>
              <a:buSzPts val="4800"/>
              <a:buNone/>
              <a:defRPr sz="4800">
                <a:solidFill>
                  <a:srgbClr val="434343"/>
                </a:solidFill>
              </a:defRPr>
            </a:lvl7pPr>
            <a:lvl8pPr lvl="7" rtl="0">
              <a:spcBef>
                <a:spcPts val="0"/>
              </a:spcBef>
              <a:spcAft>
                <a:spcPts val="0"/>
              </a:spcAft>
              <a:buClr>
                <a:srgbClr val="434343"/>
              </a:buClr>
              <a:buSzPts val="4800"/>
              <a:buNone/>
              <a:defRPr sz="4800">
                <a:solidFill>
                  <a:srgbClr val="434343"/>
                </a:solidFill>
              </a:defRPr>
            </a:lvl8pPr>
            <a:lvl9pPr lvl="8" rtl="0">
              <a:spcBef>
                <a:spcPts val="0"/>
              </a:spcBef>
              <a:spcAft>
                <a:spcPts val="0"/>
              </a:spcAft>
              <a:buClr>
                <a:srgbClr val="434343"/>
              </a:buClr>
              <a:buSzPts val="4800"/>
              <a:buNone/>
              <a:defRPr sz="4800">
                <a:solidFill>
                  <a:srgbClr val="434343"/>
                </a:solidFill>
              </a:defRPr>
            </a:lvl9pPr>
          </a:lstStyle>
          <a:p>
            <a:endParaRPr/>
          </a:p>
        </p:txBody>
      </p:sp>
      <p:sp>
        <p:nvSpPr>
          <p:cNvPr id="10" name="Google Shape;10;p2"/>
          <p:cNvSpPr txBox="1">
            <a:spLocks noGrp="1"/>
          </p:cNvSpPr>
          <p:nvPr>
            <p:ph type="subTitle" idx="1"/>
          </p:nvPr>
        </p:nvSpPr>
        <p:spPr>
          <a:xfrm>
            <a:off x="1039575" y="3206400"/>
            <a:ext cx="2402100" cy="717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Clr>
                <a:srgbClr val="434343"/>
              </a:buClr>
              <a:buSzPts val="2800"/>
              <a:buNone/>
              <a:defRPr sz="2800">
                <a:solidFill>
                  <a:srgbClr val="434343"/>
                </a:solidFill>
              </a:defRPr>
            </a:lvl2pPr>
            <a:lvl3pPr lvl="2" rtl="0">
              <a:lnSpc>
                <a:spcPct val="100000"/>
              </a:lnSpc>
              <a:spcBef>
                <a:spcPts val="0"/>
              </a:spcBef>
              <a:spcAft>
                <a:spcPts val="0"/>
              </a:spcAft>
              <a:buClr>
                <a:srgbClr val="434343"/>
              </a:buClr>
              <a:buSzPts val="2800"/>
              <a:buNone/>
              <a:defRPr sz="2800">
                <a:solidFill>
                  <a:srgbClr val="434343"/>
                </a:solidFill>
              </a:defRPr>
            </a:lvl3pPr>
            <a:lvl4pPr lvl="3" rtl="0">
              <a:lnSpc>
                <a:spcPct val="100000"/>
              </a:lnSpc>
              <a:spcBef>
                <a:spcPts val="0"/>
              </a:spcBef>
              <a:spcAft>
                <a:spcPts val="0"/>
              </a:spcAft>
              <a:buClr>
                <a:srgbClr val="434343"/>
              </a:buClr>
              <a:buSzPts val="2800"/>
              <a:buNone/>
              <a:defRPr sz="2800">
                <a:solidFill>
                  <a:srgbClr val="434343"/>
                </a:solidFill>
              </a:defRPr>
            </a:lvl4pPr>
            <a:lvl5pPr lvl="4" rtl="0">
              <a:lnSpc>
                <a:spcPct val="100000"/>
              </a:lnSpc>
              <a:spcBef>
                <a:spcPts val="0"/>
              </a:spcBef>
              <a:spcAft>
                <a:spcPts val="0"/>
              </a:spcAft>
              <a:buClr>
                <a:srgbClr val="434343"/>
              </a:buClr>
              <a:buSzPts val="2800"/>
              <a:buNone/>
              <a:defRPr sz="2800">
                <a:solidFill>
                  <a:srgbClr val="434343"/>
                </a:solidFill>
              </a:defRPr>
            </a:lvl5pPr>
            <a:lvl6pPr lvl="5" rtl="0">
              <a:lnSpc>
                <a:spcPct val="100000"/>
              </a:lnSpc>
              <a:spcBef>
                <a:spcPts val="0"/>
              </a:spcBef>
              <a:spcAft>
                <a:spcPts val="0"/>
              </a:spcAft>
              <a:buClr>
                <a:srgbClr val="434343"/>
              </a:buClr>
              <a:buSzPts val="2800"/>
              <a:buNone/>
              <a:defRPr sz="2800">
                <a:solidFill>
                  <a:srgbClr val="434343"/>
                </a:solidFill>
              </a:defRPr>
            </a:lvl6pPr>
            <a:lvl7pPr lvl="6" rtl="0">
              <a:lnSpc>
                <a:spcPct val="100000"/>
              </a:lnSpc>
              <a:spcBef>
                <a:spcPts val="0"/>
              </a:spcBef>
              <a:spcAft>
                <a:spcPts val="0"/>
              </a:spcAft>
              <a:buClr>
                <a:srgbClr val="434343"/>
              </a:buClr>
              <a:buSzPts val="2800"/>
              <a:buNone/>
              <a:defRPr sz="2800">
                <a:solidFill>
                  <a:srgbClr val="434343"/>
                </a:solidFill>
              </a:defRPr>
            </a:lvl7pPr>
            <a:lvl8pPr lvl="7" rtl="0">
              <a:lnSpc>
                <a:spcPct val="100000"/>
              </a:lnSpc>
              <a:spcBef>
                <a:spcPts val="0"/>
              </a:spcBef>
              <a:spcAft>
                <a:spcPts val="0"/>
              </a:spcAft>
              <a:buClr>
                <a:srgbClr val="434343"/>
              </a:buClr>
              <a:buSzPts val="2800"/>
              <a:buNone/>
              <a:defRPr sz="2800">
                <a:solidFill>
                  <a:srgbClr val="434343"/>
                </a:solidFill>
              </a:defRPr>
            </a:lvl8pPr>
            <a:lvl9pPr lvl="8" rtl="0">
              <a:lnSpc>
                <a:spcPct val="100000"/>
              </a:lnSpc>
              <a:spcBef>
                <a:spcPts val="0"/>
              </a:spcBef>
              <a:spcAft>
                <a:spcPts val="0"/>
              </a:spcAft>
              <a:buClr>
                <a:srgbClr val="434343"/>
              </a:buClr>
              <a:buSzPts val="2800"/>
              <a:buNone/>
              <a:defRPr sz="2800">
                <a:solidFill>
                  <a:srgbClr val="434343"/>
                </a:solidFill>
              </a:defRPr>
            </a:lvl9pPr>
          </a:lstStyle>
          <a:p>
            <a:endParaRPr/>
          </a:p>
        </p:txBody>
      </p:sp>
      <p:sp>
        <p:nvSpPr>
          <p:cNvPr id="2" name="Footer Placeholder 1">
            <a:extLst>
              <a:ext uri="{FF2B5EF4-FFF2-40B4-BE49-F238E27FC236}">
                <a16:creationId xmlns:a16="http://schemas.microsoft.com/office/drawing/2014/main" id="{95F7B410-6B1C-8345-3765-957812851DCA}"/>
              </a:ext>
            </a:extLst>
          </p:cNvPr>
          <p:cNvSpPr>
            <a:spLocks noGrp="1"/>
          </p:cNvSpPr>
          <p:nvPr>
            <p:ph type="ftr" sz="quarter" idx="10"/>
          </p:nvPr>
        </p:nvSpPr>
        <p:spPr>
          <a:xfrm>
            <a:off x="2975162" y="4824890"/>
            <a:ext cx="3086100" cy="274637"/>
          </a:xfrm>
        </p:spPr>
        <p:txBody>
          <a:bodyPr/>
          <a:lstStyle/>
          <a:p>
            <a:r>
              <a:rPr lang="es-ES" dirty="0"/>
              <a:t>Saha Hastham : Exam Scribe Finder</a:t>
            </a:r>
            <a:endParaRPr lang="en-IN" dirty="0"/>
          </a:p>
        </p:txBody>
      </p:sp>
      <p:sp>
        <p:nvSpPr>
          <p:cNvPr id="3" name="Slide Number Placeholder 2">
            <a:extLst>
              <a:ext uri="{FF2B5EF4-FFF2-40B4-BE49-F238E27FC236}">
                <a16:creationId xmlns:a16="http://schemas.microsoft.com/office/drawing/2014/main" id="{9CACD813-5F6F-BCEE-3051-51F9B1C9573D}"/>
              </a:ext>
            </a:extLst>
          </p:cNvPr>
          <p:cNvSpPr>
            <a:spLocks noGrp="1"/>
          </p:cNvSpPr>
          <p:nvPr>
            <p:ph type="sldNum" sz="quarter" idx="11"/>
          </p:nvPr>
        </p:nvSpPr>
        <p:spPr>
          <a:xfrm>
            <a:off x="6269691" y="4824768"/>
            <a:ext cx="2057400" cy="274637"/>
          </a:xfrm>
        </p:spPr>
        <p:txBody>
          <a:bodyPr/>
          <a:lstStyle/>
          <a:p>
            <a:fld id="{B82CB472-7DD4-4D77-92C3-090196A59DF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
        <p:nvSpPr>
          <p:cNvPr id="2" name="Footer Placeholder 1">
            <a:extLst>
              <a:ext uri="{FF2B5EF4-FFF2-40B4-BE49-F238E27FC236}">
                <a16:creationId xmlns:a16="http://schemas.microsoft.com/office/drawing/2014/main" id="{3DF956B1-F47B-5E70-05C2-9A16AD2F5C8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dirty="0"/>
              <a:t>Saha Hastham : Exam Scribe Finder</a:t>
            </a:r>
            <a:endParaRPr lang="en-IN" dirty="0"/>
          </a:p>
        </p:txBody>
      </p:sp>
      <p:sp>
        <p:nvSpPr>
          <p:cNvPr id="3" name="Slide Number Placeholder 2">
            <a:extLst>
              <a:ext uri="{FF2B5EF4-FFF2-40B4-BE49-F238E27FC236}">
                <a16:creationId xmlns:a16="http://schemas.microsoft.com/office/drawing/2014/main" id="{574866DC-9A8E-AC42-D804-F71C815433FE}"/>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82CB472-7DD4-4D77-92C3-090196A59DF0}" type="slidenum">
              <a:rPr lang="en-IN" smtClean="0"/>
              <a:t>‹#›</a:t>
            </a:fld>
            <a:endParaRPr lang="en-IN"/>
          </a:p>
        </p:txBody>
      </p:sp>
    </p:spTree>
  </p:cSld>
  <p:clrMap bg1="lt1" tx1="dk1" bg2="dk2" tx2="lt2" accent1="accent1" accent2="accent2" accent3="accent3" accent4="accent4" accent5="accent5" accent6="accent6" hlink="hlink" folHlink="folHlink"/>
  <p:sldLayoutIdLst>
    <p:sldLayoutId id="2147483648" r:id="rId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p:cNvGrpSpPr/>
        <p:nvPr/>
      </p:nvGrpSpPr>
      <p:grpSpPr>
        <a:xfrm>
          <a:off x="0" y="0"/>
          <a:ext cx="0" cy="0"/>
          <a:chOff x="0" y="0"/>
          <a:chExt cx="0" cy="0"/>
        </a:xfrm>
      </p:grpSpPr>
      <p:pic>
        <p:nvPicPr>
          <p:cNvPr id="12" name="Graphic 201">
            <a:extLst>
              <a:ext uri="{FF2B5EF4-FFF2-40B4-BE49-F238E27FC236}">
                <a16:creationId xmlns:a16="http://schemas.microsoft.com/office/drawing/2014/main" id="{1A943E9C-70FC-728B-01D7-ADEACF93EC4E}"/>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B364DDDB-423B-E3B3-7BE0-FBD6486814FC}"/>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E5C326AF-0C40-E10C-BA4E-392D818868AB}"/>
              </a:ext>
            </a:extLst>
          </p:cNvPr>
          <p:cNvSpPr txBox="1"/>
          <p:nvPr/>
        </p:nvSpPr>
        <p:spPr>
          <a:xfrm>
            <a:off x="402998" y="451668"/>
            <a:ext cx="8138809" cy="1754326"/>
          </a:xfrm>
          <a:prstGeom prst="rect">
            <a:avLst/>
          </a:prstGeom>
          <a:noFill/>
        </p:spPr>
        <p:txBody>
          <a:bodyPr wrap="square">
            <a:spAutoFit/>
          </a:bodyPr>
          <a:lstStyle/>
          <a:p>
            <a:pPr algn="ctr"/>
            <a:r>
              <a:rPr lang="en-US" sz="3600" dirty="0">
                <a:latin typeface="Times New Roman" panose="02020603050405020304" pitchFamily="18" charset="0"/>
                <a:ea typeface="Calibri" panose="020F0502020204030204" pitchFamily="34" charset="0"/>
                <a:cs typeface="Times New Roman" panose="02020603050405020304" pitchFamily="18" charset="0"/>
              </a:rPr>
              <a:t>AI-POWERED DAMAGE DETECTION, REMEDY MEASURES &amp; SERVICE PROVIDER RECOMMENDATION </a:t>
            </a:r>
            <a:endParaRPr lang="en-IN"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43BCD2F-3647-9CA3-A383-DA677E0ED40A}"/>
              </a:ext>
            </a:extLst>
          </p:cNvPr>
          <p:cNvSpPr txBox="1"/>
          <p:nvPr/>
        </p:nvSpPr>
        <p:spPr>
          <a:xfrm>
            <a:off x="5207641" y="3264412"/>
            <a:ext cx="4369854" cy="700000"/>
          </a:xfrm>
          <a:prstGeom prst="rect">
            <a:avLst/>
          </a:prstGeom>
          <a:noFill/>
        </p:spPr>
        <p:txBody>
          <a:bodyPr wrap="square">
            <a:spAutoFit/>
          </a:bodyPr>
          <a:lstStyle/>
          <a:p>
            <a:pPr marL="0" lvl="0" indent="0" algn="ctr">
              <a:lnSpc>
                <a:spcPct val="150000"/>
              </a:lnSpc>
              <a:buFont typeface="Arial"/>
              <a:buNone/>
            </a:pPr>
            <a:r>
              <a:rPr lang="en-US" dirty="0">
                <a:solidFill>
                  <a:srgbClr val="2A2E3A"/>
                </a:solidFill>
                <a:latin typeface="Times New Roman" panose="02020603050405020304" pitchFamily="18" charset="0"/>
                <a:cs typeface="Times New Roman" panose="02020603050405020304" pitchFamily="18" charset="0"/>
              </a:rPr>
              <a:t>Mathew Peter</a:t>
            </a:r>
            <a:endParaRPr lang="en-IN" dirty="0">
              <a:solidFill>
                <a:srgbClr val="2A2E3A"/>
              </a:solidFill>
              <a:latin typeface="Times New Roman" panose="02020603050405020304" pitchFamily="18" charset="0"/>
              <a:cs typeface="Times New Roman" panose="02020603050405020304" pitchFamily="18" charset="0"/>
            </a:endParaRPr>
          </a:p>
          <a:p>
            <a:pPr marL="0" lvl="0" indent="0" algn="ctr">
              <a:lnSpc>
                <a:spcPct val="150000"/>
              </a:lnSpc>
              <a:buFont typeface="Arial"/>
              <a:buNone/>
            </a:pPr>
            <a:r>
              <a:rPr lang="en-IN" dirty="0">
                <a:solidFill>
                  <a:srgbClr val="2A2E3A"/>
                </a:solidFill>
                <a:latin typeface="Times New Roman" panose="02020603050405020304" pitchFamily="18" charset="0"/>
                <a:cs typeface="Times New Roman" panose="02020603050405020304" pitchFamily="18" charset="0"/>
              </a:rPr>
              <a:t>INMCA 2020-2025</a:t>
            </a:r>
          </a:p>
        </p:txBody>
      </p:sp>
      <p:sp>
        <p:nvSpPr>
          <p:cNvPr id="5" name="TextBox 4">
            <a:extLst>
              <a:ext uri="{FF2B5EF4-FFF2-40B4-BE49-F238E27FC236}">
                <a16:creationId xmlns:a16="http://schemas.microsoft.com/office/drawing/2014/main" id="{41D378D1-251D-6C5B-E6EF-779E3CE931A4}"/>
              </a:ext>
            </a:extLst>
          </p:cNvPr>
          <p:cNvSpPr txBox="1"/>
          <p:nvPr/>
        </p:nvSpPr>
        <p:spPr>
          <a:xfrm>
            <a:off x="-745065" y="3325372"/>
            <a:ext cx="6771994" cy="700000"/>
          </a:xfrm>
          <a:prstGeom prst="rect">
            <a:avLst/>
          </a:prstGeom>
          <a:noFill/>
        </p:spPr>
        <p:txBody>
          <a:bodyPr wrap="square">
            <a:spAutoFit/>
          </a:bodyPr>
          <a:lstStyle/>
          <a:p>
            <a:pPr algn="ctr">
              <a:lnSpc>
                <a:spcPct val="150000"/>
              </a:lnSpc>
            </a:pPr>
            <a:r>
              <a:rPr lang="en-US" dirty="0">
                <a:solidFill>
                  <a:srgbClr val="2A2E3A"/>
                </a:solidFill>
                <a:latin typeface="Times New Roman" panose="02020603050405020304" pitchFamily="18" charset="0"/>
                <a:cs typeface="Times New Roman" panose="02020603050405020304" pitchFamily="18" charset="0"/>
              </a:rPr>
              <a:t>Ms. Nimmy Francis</a:t>
            </a:r>
          </a:p>
          <a:p>
            <a:pPr algn="ctr">
              <a:lnSpc>
                <a:spcPct val="150000"/>
              </a:lnSpc>
            </a:pPr>
            <a:r>
              <a:rPr lang="en-US" dirty="0">
                <a:solidFill>
                  <a:srgbClr val="2A2E3A"/>
                </a:solidFill>
                <a:latin typeface="Times New Roman" panose="02020603050405020304" pitchFamily="18" charset="0"/>
                <a:cs typeface="Times New Roman" panose="02020603050405020304" pitchFamily="18" charset="0"/>
              </a:rPr>
              <a:t>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3A279527-94F2-C971-3041-FC312EBE799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705BCF4-88C4-CE0C-4EED-5426995835E7}"/>
              </a:ext>
            </a:extLst>
          </p:cNvPr>
          <p:cNvSpPr>
            <a:spLocks noGrp="1"/>
          </p:cNvSpPr>
          <p:nvPr>
            <p:ph type="sldNum" sz="quarter" idx="11"/>
          </p:nvPr>
        </p:nvSpPr>
        <p:spPr>
          <a:xfrm>
            <a:off x="5978972" y="4754421"/>
            <a:ext cx="2057400" cy="274637"/>
          </a:xfrm>
        </p:spPr>
        <p:txBody>
          <a:bodyPr/>
          <a:lstStyle/>
          <a:p>
            <a:r>
              <a:rPr lang="en-US" dirty="0"/>
              <a:t>1</a:t>
            </a:r>
            <a:endParaRPr lang="en-IN" dirty="0"/>
          </a:p>
        </p:txBody>
      </p:sp>
      <p:pic>
        <p:nvPicPr>
          <p:cNvPr id="12" name="Graphic 201">
            <a:extLst>
              <a:ext uri="{FF2B5EF4-FFF2-40B4-BE49-F238E27FC236}">
                <a16:creationId xmlns:a16="http://schemas.microsoft.com/office/drawing/2014/main" id="{89ED69FD-A6F7-441E-5D02-487531503D9E}"/>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578030FA-75E8-4361-2F22-5A0B5F91FD8D}"/>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2D396C09-1ABD-64C1-7544-7333B9C7E36E}"/>
              </a:ext>
            </a:extLst>
          </p:cNvPr>
          <p:cNvSpPr txBox="1"/>
          <p:nvPr/>
        </p:nvSpPr>
        <p:spPr>
          <a:xfrm>
            <a:off x="304132" y="358533"/>
            <a:ext cx="24384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CONTENTS</a:t>
            </a:r>
            <a:endParaRPr lang="en-IN" sz="2800" dirty="0">
              <a:latin typeface="Calibri Light (Headings)"/>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20432935-AD0A-2099-31D8-0572B204A319}"/>
              </a:ext>
            </a:extLst>
          </p:cNvPr>
          <p:cNvSpPr txBox="1"/>
          <p:nvPr/>
        </p:nvSpPr>
        <p:spPr>
          <a:xfrm>
            <a:off x="482602" y="1134198"/>
            <a:ext cx="6771994" cy="263341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Abstract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Literature Survey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Introduction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Methodology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Results and Discussion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Conclusion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506510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0819178C-ECA7-DB92-686E-13166C3D575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8CD5C7A-A89A-5274-4F2B-17A6035D773C}"/>
              </a:ext>
            </a:extLst>
          </p:cNvPr>
          <p:cNvSpPr>
            <a:spLocks noGrp="1"/>
          </p:cNvSpPr>
          <p:nvPr>
            <p:ph type="sldNum" sz="quarter" idx="11"/>
          </p:nvPr>
        </p:nvSpPr>
        <p:spPr>
          <a:xfrm>
            <a:off x="5978972" y="4754421"/>
            <a:ext cx="2057400" cy="274637"/>
          </a:xfrm>
        </p:spPr>
        <p:txBody>
          <a:bodyPr/>
          <a:lstStyle/>
          <a:p>
            <a:r>
              <a:rPr lang="en-US" dirty="0"/>
              <a:t>2</a:t>
            </a:r>
            <a:endParaRPr lang="en-IN" dirty="0"/>
          </a:p>
        </p:txBody>
      </p:sp>
      <p:pic>
        <p:nvPicPr>
          <p:cNvPr id="12" name="Graphic 201">
            <a:extLst>
              <a:ext uri="{FF2B5EF4-FFF2-40B4-BE49-F238E27FC236}">
                <a16:creationId xmlns:a16="http://schemas.microsoft.com/office/drawing/2014/main" id="{1DF235B3-6AA9-8EA3-D9E9-8EE12F768C54}"/>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4E142039-22EA-D014-D201-D656338DEEE1}"/>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CFD6241D-58A9-CF2A-EC36-FC682F37AFBE}"/>
              </a:ext>
            </a:extLst>
          </p:cNvPr>
          <p:cNvSpPr txBox="1"/>
          <p:nvPr/>
        </p:nvSpPr>
        <p:spPr>
          <a:xfrm>
            <a:off x="304132" y="269633"/>
            <a:ext cx="24384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ABSTRACT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AAA24D8-8F83-99FB-ED17-00A453F5F446}"/>
              </a:ext>
            </a:extLst>
          </p:cNvPr>
          <p:cNvSpPr txBox="1"/>
          <p:nvPr/>
        </p:nvSpPr>
        <p:spPr>
          <a:xfrm>
            <a:off x="482602" y="1018451"/>
            <a:ext cx="8318498" cy="263341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Streamlines the identification and diagnosis of motor, plumbing, and electrical device issues.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Advanced machine learning to accurately detect faults and anomalies.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Enables users to upload images of faulty or damaged components for automated analysis.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Processes images through a trained Convolutional Neural Network (CNN) model for precise issue detection.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Delivers AI-powered repair recommendations and connects users with top-rated service providers for complex problems.</a:t>
            </a:r>
          </a:p>
        </p:txBody>
      </p:sp>
    </p:spTree>
    <p:extLst>
      <p:ext uri="{BB962C8B-B14F-4D97-AF65-F5344CB8AC3E}">
        <p14:creationId xmlns:p14="http://schemas.microsoft.com/office/powerpoint/2010/main" val="2778148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3112E87D-8FE8-2601-4DB6-4390E0A77D9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8726CCF-E0D8-A95F-C0D3-DB37AAC9224F}"/>
              </a:ext>
            </a:extLst>
          </p:cNvPr>
          <p:cNvSpPr>
            <a:spLocks noGrp="1"/>
          </p:cNvSpPr>
          <p:nvPr>
            <p:ph type="sldNum" sz="quarter" idx="11"/>
          </p:nvPr>
        </p:nvSpPr>
        <p:spPr>
          <a:xfrm>
            <a:off x="5978972" y="4754421"/>
            <a:ext cx="2057400" cy="274637"/>
          </a:xfrm>
        </p:spPr>
        <p:txBody>
          <a:bodyPr/>
          <a:lstStyle/>
          <a:p>
            <a:r>
              <a:rPr lang="en-IN" dirty="0"/>
              <a:t>3</a:t>
            </a:r>
          </a:p>
        </p:txBody>
      </p:sp>
      <p:pic>
        <p:nvPicPr>
          <p:cNvPr id="12" name="Graphic 201">
            <a:extLst>
              <a:ext uri="{FF2B5EF4-FFF2-40B4-BE49-F238E27FC236}">
                <a16:creationId xmlns:a16="http://schemas.microsoft.com/office/drawing/2014/main" id="{4B635132-A0A2-099F-CAC9-D63D9B2AE1F6}"/>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F8782681-B7FE-E27E-B735-DC5B774E366D}"/>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BE378551-F5AA-470D-359A-4CFB4F6C9A00}"/>
              </a:ext>
            </a:extLst>
          </p:cNvPr>
          <p:cNvSpPr txBox="1"/>
          <p:nvPr/>
        </p:nvSpPr>
        <p:spPr>
          <a:xfrm>
            <a:off x="-81449" y="330522"/>
            <a:ext cx="5023144"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27354" y="1226362"/>
            <a:ext cx="7883889" cy="3002745"/>
          </a:xfrm>
          <a:prstGeom prst="rect">
            <a:avLst/>
          </a:prstGeom>
          <a:noFill/>
        </p:spPr>
        <p:txBody>
          <a:bodyPr wrap="square" rtlCol="0">
            <a:spAutoFit/>
          </a:bodyPr>
          <a:lstStyle/>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AI for Home Maintenance: Used deep learning for fault detection but lacked service provider integration. AI Home Repair Study [1]</a:t>
            </a:r>
          </a:p>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Automated Appliance Diagnostics: Combined image processing and IoT but required specialized hardware. Smart Home Diagnostics Research [2]</a:t>
            </a:r>
          </a:p>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AI Service Matching: Matched users with providers using machine learning but lacked real-time feedback. Service Matching Study [3]</a:t>
            </a:r>
          </a:p>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Speech Recognition in Home Services: NLP-based chatbots for booking, affected by accents and noise. Google AI Research [4]</a:t>
            </a:r>
          </a:p>
        </p:txBody>
      </p:sp>
    </p:spTree>
    <p:extLst>
      <p:ext uri="{BB962C8B-B14F-4D97-AF65-F5344CB8AC3E}">
        <p14:creationId xmlns:p14="http://schemas.microsoft.com/office/powerpoint/2010/main" val="188149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72D08E10-BC8E-73F6-26E3-F2D9EC0914A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F75F7D-FE8E-DE1A-7871-133E126D4261}"/>
              </a:ext>
            </a:extLst>
          </p:cNvPr>
          <p:cNvSpPr>
            <a:spLocks noGrp="1"/>
          </p:cNvSpPr>
          <p:nvPr>
            <p:ph type="sldNum" sz="quarter" idx="11"/>
          </p:nvPr>
        </p:nvSpPr>
        <p:spPr>
          <a:xfrm>
            <a:off x="5978972" y="4754421"/>
            <a:ext cx="2057400" cy="274637"/>
          </a:xfrm>
        </p:spPr>
        <p:txBody>
          <a:bodyPr/>
          <a:lstStyle/>
          <a:p>
            <a:r>
              <a:rPr lang="en-IN" dirty="0"/>
              <a:t>4</a:t>
            </a:r>
          </a:p>
        </p:txBody>
      </p:sp>
      <p:pic>
        <p:nvPicPr>
          <p:cNvPr id="12" name="Graphic 201">
            <a:extLst>
              <a:ext uri="{FF2B5EF4-FFF2-40B4-BE49-F238E27FC236}">
                <a16:creationId xmlns:a16="http://schemas.microsoft.com/office/drawing/2014/main" id="{E425AB19-CDE6-191B-85C6-EEE425E2EF4A}"/>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232D1B63-7118-D113-22F8-A8FD980AEC81}"/>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011B63A4-5AD7-21D7-A333-7706EF809BAA}"/>
              </a:ext>
            </a:extLst>
          </p:cNvPr>
          <p:cNvSpPr txBox="1"/>
          <p:nvPr/>
        </p:nvSpPr>
        <p:spPr>
          <a:xfrm>
            <a:off x="76355" y="264553"/>
            <a:ext cx="4013868"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956561F-5EE8-D30E-8B2C-8AA65BAFD7C3}"/>
              </a:ext>
            </a:extLst>
          </p:cNvPr>
          <p:cNvSpPr txBox="1"/>
          <p:nvPr/>
        </p:nvSpPr>
        <p:spPr>
          <a:xfrm>
            <a:off x="587764" y="1203341"/>
            <a:ext cx="8281069" cy="300274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Automated Issue Identification: Uses machine learning to scan and analyze images of faulty motor, plumbing, and electrical components.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Quick Problem Detection: Instantly determines the issue when a user submits a picture of a damaged part.</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Repair Recommendations: Suggests potential solutions to fix the problem.</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Service Provider Suggestions: If the issue cannot be easily resolved, the system recommends top-rated service providers.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Guaranteed Repairs: Ensures users receive accurate and effective repair solutions.</a:t>
            </a:r>
          </a:p>
        </p:txBody>
      </p:sp>
    </p:spTree>
    <p:extLst>
      <p:ext uri="{BB962C8B-B14F-4D97-AF65-F5344CB8AC3E}">
        <p14:creationId xmlns:p14="http://schemas.microsoft.com/office/powerpoint/2010/main" val="1458808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B6B13A9A-508D-D383-BF0D-84DC2693FDE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E0A8BE3-A1C5-7259-2752-C3A4E0A07D5C}"/>
              </a:ext>
            </a:extLst>
          </p:cNvPr>
          <p:cNvSpPr>
            <a:spLocks noGrp="1"/>
          </p:cNvSpPr>
          <p:nvPr>
            <p:ph type="sldNum" sz="quarter" idx="11"/>
          </p:nvPr>
        </p:nvSpPr>
        <p:spPr>
          <a:xfrm>
            <a:off x="5978972" y="4754421"/>
            <a:ext cx="2057400" cy="274637"/>
          </a:xfrm>
        </p:spPr>
        <p:txBody>
          <a:bodyPr/>
          <a:lstStyle/>
          <a:p>
            <a:r>
              <a:rPr lang="en-IN" dirty="0"/>
              <a:t>5</a:t>
            </a:r>
          </a:p>
        </p:txBody>
      </p:sp>
      <p:pic>
        <p:nvPicPr>
          <p:cNvPr id="12" name="Graphic 201">
            <a:extLst>
              <a:ext uri="{FF2B5EF4-FFF2-40B4-BE49-F238E27FC236}">
                <a16:creationId xmlns:a16="http://schemas.microsoft.com/office/drawing/2014/main" id="{1633CF75-2674-20A1-5E64-088BBFA2A7DC}"/>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1EA6E940-3089-744E-2BDA-BDE1B98C38DD}"/>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28951375-087D-D443-B1A3-7778ABE06023}"/>
              </a:ext>
            </a:extLst>
          </p:cNvPr>
          <p:cNvSpPr txBox="1"/>
          <p:nvPr/>
        </p:nvSpPr>
        <p:spPr>
          <a:xfrm>
            <a:off x="-668" y="115540"/>
            <a:ext cx="4013868"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F780230-69D9-B0CB-C87D-B57E523ED2C9}"/>
              </a:ext>
            </a:extLst>
          </p:cNvPr>
          <p:cNvSpPr txBox="1"/>
          <p:nvPr/>
        </p:nvSpPr>
        <p:spPr>
          <a:xfrm>
            <a:off x="493182" y="846167"/>
            <a:ext cx="8496300" cy="2962158"/>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Image Dataset Collection</a:t>
            </a:r>
          </a:p>
          <a:p>
            <a:pPr algn="just">
              <a:lnSpc>
                <a:spcPct val="150000"/>
              </a:lnSpc>
            </a:pPr>
            <a:r>
              <a:rPr lang="en-US" dirty="0">
                <a:latin typeface="Times New Roman" panose="02020603050405020304" pitchFamily="18" charset="0"/>
                <a:cs typeface="Times New Roman" panose="02020603050405020304" pitchFamily="18" charset="0"/>
              </a:rPr>
              <a:t>Collected images of home maintenance issues from real-world scenarios and online sources. Categorized and labeled data to build a structured dataset for fault detection and service optimization.</a:t>
            </a:r>
          </a:p>
          <a:p>
            <a:pPr algn="just">
              <a:lnSpc>
                <a:spcPct val="150000"/>
              </a:lnSpc>
            </a:pPr>
            <a:r>
              <a:rPr lang="en-US" b="1" dirty="0">
                <a:latin typeface="Times New Roman" panose="02020603050405020304" pitchFamily="18" charset="0"/>
                <a:cs typeface="Times New Roman" panose="02020603050405020304" pitchFamily="18" charset="0"/>
              </a:rPr>
              <a:t>2. Preprocessing and Data Preparation</a:t>
            </a:r>
          </a:p>
          <a:p>
            <a:pPr algn="just">
              <a:lnSpc>
                <a:spcPct val="150000"/>
              </a:lnSpc>
            </a:pPr>
            <a:r>
              <a:rPr lang="en-US" dirty="0">
                <a:latin typeface="Times New Roman" panose="02020603050405020304" pitchFamily="18" charset="0"/>
                <a:cs typeface="Times New Roman" panose="02020603050405020304" pitchFamily="18" charset="0"/>
              </a:rPr>
              <a:t>Resize images to a standard size for the model. Split the dataset into 80% for training and 20% for testing/validation.</a:t>
            </a:r>
          </a:p>
          <a:p>
            <a:pPr algn="just">
              <a:lnSpc>
                <a:spcPct val="150000"/>
              </a:lnSpc>
            </a:pPr>
            <a:r>
              <a:rPr lang="en-US" b="1" dirty="0">
                <a:latin typeface="Times New Roman" panose="02020603050405020304" pitchFamily="18" charset="0"/>
                <a:cs typeface="Times New Roman" panose="02020603050405020304" pitchFamily="18" charset="0"/>
              </a:rPr>
              <a:t>3. Model Development</a:t>
            </a:r>
          </a:p>
          <a:p>
            <a:pPr algn="just">
              <a:lnSpc>
                <a:spcPct val="150000"/>
              </a:lnSpc>
            </a:pPr>
            <a:r>
              <a:rPr lang="en-US" dirty="0">
                <a:latin typeface="Times New Roman" panose="02020603050405020304" pitchFamily="18" charset="0"/>
                <a:cs typeface="Times New Roman" panose="02020603050405020304" pitchFamily="18" charset="0"/>
              </a:rPr>
              <a:t>Developed a CNN model to classify home maintenance issues using a structured image dataset. It efficiently detects faults and recommends services.</a:t>
            </a:r>
          </a:p>
        </p:txBody>
      </p:sp>
    </p:spTree>
    <p:extLst>
      <p:ext uri="{BB962C8B-B14F-4D97-AF65-F5344CB8AC3E}">
        <p14:creationId xmlns:p14="http://schemas.microsoft.com/office/powerpoint/2010/main" val="134550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BF5DAE7F-7DFE-2748-4BDF-08DA84D0248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9B29CBD-F254-82E5-786E-53C9476C7221}"/>
              </a:ext>
            </a:extLst>
          </p:cNvPr>
          <p:cNvSpPr>
            <a:spLocks noGrp="1"/>
          </p:cNvSpPr>
          <p:nvPr>
            <p:ph type="sldNum" sz="quarter" idx="11"/>
          </p:nvPr>
        </p:nvSpPr>
        <p:spPr>
          <a:xfrm>
            <a:off x="5978972" y="4754421"/>
            <a:ext cx="2057400" cy="274637"/>
          </a:xfrm>
        </p:spPr>
        <p:txBody>
          <a:bodyPr/>
          <a:lstStyle/>
          <a:p>
            <a:r>
              <a:rPr lang="en-IN" dirty="0"/>
              <a:t>6</a:t>
            </a:r>
          </a:p>
        </p:txBody>
      </p:sp>
      <p:pic>
        <p:nvPicPr>
          <p:cNvPr id="12" name="Graphic 201">
            <a:extLst>
              <a:ext uri="{FF2B5EF4-FFF2-40B4-BE49-F238E27FC236}">
                <a16:creationId xmlns:a16="http://schemas.microsoft.com/office/drawing/2014/main" id="{9C04EE4E-9540-9728-E79B-29DF2F9582B6}"/>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5EE92967-6510-8907-F499-49FDECE10028}"/>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00300560-9ACD-D423-4296-6ED0F8D51146}"/>
              </a:ext>
            </a:extLst>
          </p:cNvPr>
          <p:cNvSpPr txBox="1"/>
          <p:nvPr/>
        </p:nvSpPr>
        <p:spPr>
          <a:xfrm>
            <a:off x="-668" y="142633"/>
            <a:ext cx="4013868"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4094CA0-A09B-7204-D1D8-39B0DFF92C9C}"/>
              </a:ext>
            </a:extLst>
          </p:cNvPr>
          <p:cNvSpPr txBox="1"/>
          <p:nvPr/>
        </p:nvSpPr>
        <p:spPr>
          <a:xfrm>
            <a:off x="454197" y="600505"/>
            <a:ext cx="8425643" cy="2315827"/>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4. Training Process</a:t>
            </a:r>
          </a:p>
          <a:p>
            <a:pPr algn="just">
              <a:lnSpc>
                <a:spcPct val="150000"/>
              </a:lnSpc>
            </a:pPr>
            <a:r>
              <a:rPr lang="en-US" dirty="0">
                <a:latin typeface="Times New Roman" panose="02020603050405020304" pitchFamily="18" charset="0"/>
                <a:cs typeface="Times New Roman" panose="02020603050405020304" pitchFamily="18" charset="0"/>
              </a:rPr>
              <a:t>Train the model using an optimization method to help it learn patterns in the data. The model improves by reducing errors (loss) over multiple training rounds and becomes better at identifying diseases.</a:t>
            </a:r>
          </a:p>
          <a:p>
            <a:pPr algn="just">
              <a:lnSpc>
                <a:spcPct val="150000"/>
              </a:lnSpc>
            </a:pPr>
            <a:r>
              <a:rPr lang="en-US" b="1" dirty="0">
                <a:latin typeface="Times New Roman" panose="02020603050405020304" pitchFamily="18" charset="0"/>
                <a:cs typeface="Times New Roman" panose="02020603050405020304" pitchFamily="18" charset="0"/>
              </a:rPr>
              <a:t>5. Evaluation and Validation</a:t>
            </a:r>
          </a:p>
          <a:p>
            <a:pPr algn="just">
              <a:lnSpc>
                <a:spcPct val="150000"/>
              </a:lnSpc>
            </a:pPr>
            <a:r>
              <a:rPr lang="en-US" dirty="0">
                <a:latin typeface="Times New Roman" panose="02020603050405020304" pitchFamily="18" charset="0"/>
                <a:cs typeface="Times New Roman" panose="02020603050405020304" pitchFamily="18" charset="0"/>
              </a:rPr>
              <a:t>Test the model with new images (validation set) to check accuracy. Compare the model's predictions to the correct labels.</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7FB8D195-0C5B-8FCF-0747-2BDB81A54F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1593908" y="2571749"/>
            <a:ext cx="5771626" cy="1971245"/>
          </a:xfrm>
          <a:prstGeom prst="rect">
            <a:avLst/>
          </a:prstGeom>
          <a:noFill/>
          <a:ln>
            <a:noFill/>
          </a:ln>
          <a:effectLst/>
        </p:spPr>
      </p:pic>
    </p:spTree>
    <p:extLst>
      <p:ext uri="{BB962C8B-B14F-4D97-AF65-F5344CB8AC3E}">
        <p14:creationId xmlns:p14="http://schemas.microsoft.com/office/powerpoint/2010/main" val="257623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A1FA1F71-1084-7AFC-FAFD-B6FACE47826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46A0DCF-6885-B245-5BF5-92AA4230093B}"/>
              </a:ext>
            </a:extLst>
          </p:cNvPr>
          <p:cNvSpPr>
            <a:spLocks noGrp="1"/>
          </p:cNvSpPr>
          <p:nvPr>
            <p:ph type="sldNum" sz="quarter" idx="11"/>
          </p:nvPr>
        </p:nvSpPr>
        <p:spPr>
          <a:xfrm>
            <a:off x="5978972" y="4754421"/>
            <a:ext cx="2057400" cy="274637"/>
          </a:xfrm>
        </p:spPr>
        <p:txBody>
          <a:bodyPr/>
          <a:lstStyle/>
          <a:p>
            <a:r>
              <a:rPr lang="en-IN" dirty="0"/>
              <a:t>6</a:t>
            </a:r>
          </a:p>
        </p:txBody>
      </p:sp>
      <p:pic>
        <p:nvPicPr>
          <p:cNvPr id="12" name="Graphic 201">
            <a:extLst>
              <a:ext uri="{FF2B5EF4-FFF2-40B4-BE49-F238E27FC236}">
                <a16:creationId xmlns:a16="http://schemas.microsoft.com/office/drawing/2014/main" id="{88A8CCD5-EA38-6BDF-FE79-77C21F8FCF62}"/>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8CB30227-38D2-4B42-262B-670D68AB34BE}"/>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68A94D53-CAC7-BB9D-6EC3-B272BC002758}"/>
              </a:ext>
            </a:extLst>
          </p:cNvPr>
          <p:cNvSpPr txBox="1"/>
          <p:nvPr/>
        </p:nvSpPr>
        <p:spPr>
          <a:xfrm>
            <a:off x="-668" y="142633"/>
            <a:ext cx="4013868"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DDDD20B-DDB9-9D9A-F4D3-1DFE3A6CE541}"/>
              </a:ext>
            </a:extLst>
          </p:cNvPr>
          <p:cNvSpPr txBox="1"/>
          <p:nvPr/>
        </p:nvSpPr>
        <p:spPr>
          <a:xfrm>
            <a:off x="454197" y="600505"/>
            <a:ext cx="8425643" cy="1346331"/>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6. Issue Detection and Service Provider Recommendation</a:t>
            </a:r>
          </a:p>
          <a:p>
            <a:pPr algn="just">
              <a:lnSpc>
                <a:spcPct val="150000"/>
              </a:lnSpc>
            </a:pPr>
            <a:r>
              <a:rPr lang="en-US" dirty="0">
                <a:latin typeface="Times New Roman" panose="02020603050405020304" pitchFamily="18" charset="0"/>
                <a:cs typeface="Times New Roman" panose="02020603050405020304" pitchFamily="18" charset="0"/>
              </a:rPr>
              <a:t>After an image is uploaded, the system analyzes it to identify the issue. It then displays the fault type, confidence level, a brief description, suggests possible solutions, and recommends suitable service providers.</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A6C2628-7527-1EAF-70B0-30A558382B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068" y="1770077"/>
            <a:ext cx="6568580" cy="2365695"/>
          </a:xfrm>
          <a:prstGeom prst="rect">
            <a:avLst/>
          </a:prstGeom>
        </p:spPr>
      </p:pic>
    </p:spTree>
    <p:extLst>
      <p:ext uri="{BB962C8B-B14F-4D97-AF65-F5344CB8AC3E}">
        <p14:creationId xmlns:p14="http://schemas.microsoft.com/office/powerpoint/2010/main" val="188372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E233CFFC-8D03-1D96-51A7-5B38B3F48EF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B2CA4FF6-9282-4416-9A88-A461F89E3807}"/>
              </a:ext>
            </a:extLst>
          </p:cNvPr>
          <p:cNvSpPr>
            <a:spLocks noGrp="1"/>
          </p:cNvSpPr>
          <p:nvPr>
            <p:ph type="sldNum" sz="quarter" idx="11"/>
          </p:nvPr>
        </p:nvSpPr>
        <p:spPr>
          <a:xfrm>
            <a:off x="5978972" y="4754421"/>
            <a:ext cx="2057400" cy="274637"/>
          </a:xfrm>
        </p:spPr>
        <p:txBody>
          <a:bodyPr/>
          <a:lstStyle/>
          <a:p>
            <a:r>
              <a:rPr lang="en-IN" dirty="0"/>
              <a:t>7</a:t>
            </a:r>
          </a:p>
        </p:txBody>
      </p:sp>
      <p:pic>
        <p:nvPicPr>
          <p:cNvPr id="12" name="Graphic 201">
            <a:extLst>
              <a:ext uri="{FF2B5EF4-FFF2-40B4-BE49-F238E27FC236}">
                <a16:creationId xmlns:a16="http://schemas.microsoft.com/office/drawing/2014/main" id="{3AF2C623-EB17-5D16-DC0F-2E9174D81281}"/>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FFE1BBFA-BFB9-2AFD-C92A-C6177FD414FE}"/>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1EEAE087-610C-7088-F6B7-4ABBDC893D6B}"/>
              </a:ext>
            </a:extLst>
          </p:cNvPr>
          <p:cNvSpPr txBox="1"/>
          <p:nvPr/>
        </p:nvSpPr>
        <p:spPr>
          <a:xfrm>
            <a:off x="-253856" y="142633"/>
            <a:ext cx="5979640" cy="523220"/>
          </a:xfrm>
          <a:prstGeom prst="rect">
            <a:avLst/>
          </a:prstGeom>
          <a:noFill/>
        </p:spPr>
        <p:txBody>
          <a:bodyPr wrap="square">
            <a:spAutoFit/>
          </a:bodyPr>
          <a:lstStyle>
            <a:defPPr marR="0" lvl="0" algn="l" rtl="0">
              <a:lnSpc>
                <a:spcPct val="100000"/>
              </a:lnSpc>
              <a:spcBef>
                <a:spcPts val="0"/>
              </a:spcBef>
              <a:spcAft>
                <a:spcPts val="0"/>
              </a:spcAft>
            </a:defPPr>
            <a:lvl1pPr algn="ctr">
              <a:defRPr sz="2800" b="1">
                <a:latin typeface="Times New Roman" panose="02020603050405020304" pitchFamily="18" charset="0"/>
                <a:cs typeface="Times New Roman" panose="02020603050405020304" pitchFamily="18" charset="0"/>
              </a:defRPr>
            </a:lvl1pPr>
          </a:lstStyle>
          <a:p>
            <a:r>
              <a:rPr lang="en-US" dirty="0"/>
              <a:t>RESULTS AND DISCUSSION</a:t>
            </a:r>
            <a:endParaRPr lang="en-IN" dirty="0"/>
          </a:p>
        </p:txBody>
      </p:sp>
      <p:sp>
        <p:nvSpPr>
          <p:cNvPr id="18" name="TextBox 17">
            <a:extLst>
              <a:ext uri="{FF2B5EF4-FFF2-40B4-BE49-F238E27FC236}">
                <a16:creationId xmlns:a16="http://schemas.microsoft.com/office/drawing/2014/main" id="{0B82BABC-3202-A52D-2FBA-52D8AD91632D}"/>
              </a:ext>
            </a:extLst>
          </p:cNvPr>
          <p:cNvSpPr txBox="1"/>
          <p:nvPr/>
        </p:nvSpPr>
        <p:spPr>
          <a:xfrm>
            <a:off x="1994806" y="4162552"/>
            <a:ext cx="3884839" cy="276999"/>
          </a:xfrm>
          <a:prstGeom prst="rect">
            <a:avLst/>
          </a:prstGeom>
          <a:noFill/>
        </p:spPr>
        <p:txBody>
          <a:bodyPr wrap="square">
            <a:spAutoFit/>
          </a:bodyPr>
          <a:lstStyle/>
          <a:p>
            <a:pPr algn="ctr"/>
            <a:r>
              <a:rPr lang="en-IN" sz="1200" spc="-5" dirty="0">
                <a:latin typeface="Times New Roman" panose="02020603050405020304" pitchFamily="18" charset="0"/>
                <a:ea typeface="SimSun" panose="02010600030101010101" pitchFamily="2" charset="-122"/>
              </a:rPr>
              <a:t>UI of service prediction</a:t>
            </a:r>
            <a:endParaRPr lang="en-IN" sz="1600" dirty="0">
              <a:effectLst/>
              <a:latin typeface="Times New Roman" panose="02020603050405020304" pitchFamily="18" charset="0"/>
              <a:ea typeface="SimSun" panose="02010600030101010101" pitchFamily="2" charset="-122"/>
            </a:endParaRPr>
          </a:p>
        </p:txBody>
      </p:sp>
      <p:pic>
        <p:nvPicPr>
          <p:cNvPr id="8" name="Picture 7">
            <a:extLst>
              <a:ext uri="{FF2B5EF4-FFF2-40B4-BE49-F238E27FC236}">
                <a16:creationId xmlns:a16="http://schemas.microsoft.com/office/drawing/2014/main" id="{5B45BB59-74F5-E161-4685-D035CE832B59}"/>
              </a:ext>
            </a:extLst>
          </p:cNvPr>
          <p:cNvPicPr>
            <a:picLocks noChangeAspect="1"/>
          </p:cNvPicPr>
          <p:nvPr/>
        </p:nvPicPr>
        <p:blipFill>
          <a:blip r:embed="rId5"/>
          <a:stretch>
            <a:fillRect/>
          </a:stretch>
        </p:blipFill>
        <p:spPr>
          <a:xfrm>
            <a:off x="906012" y="735691"/>
            <a:ext cx="6568580" cy="3257469"/>
          </a:xfrm>
          <a:prstGeom prst="rect">
            <a:avLst/>
          </a:prstGeom>
        </p:spPr>
      </p:pic>
    </p:spTree>
    <p:extLst>
      <p:ext uri="{BB962C8B-B14F-4D97-AF65-F5344CB8AC3E}">
        <p14:creationId xmlns:p14="http://schemas.microsoft.com/office/powerpoint/2010/main" val="3050129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8B003281-ABB1-E10F-8D5C-7BEA8CCD3F0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4094A03-DF79-1373-CE1D-2FA0283B4468}"/>
              </a:ext>
            </a:extLst>
          </p:cNvPr>
          <p:cNvSpPr>
            <a:spLocks noGrp="1"/>
          </p:cNvSpPr>
          <p:nvPr>
            <p:ph type="sldNum" sz="quarter" idx="11"/>
          </p:nvPr>
        </p:nvSpPr>
        <p:spPr>
          <a:xfrm>
            <a:off x="5978972" y="4754421"/>
            <a:ext cx="2057400" cy="274637"/>
          </a:xfrm>
        </p:spPr>
        <p:txBody>
          <a:bodyPr/>
          <a:lstStyle/>
          <a:p>
            <a:r>
              <a:rPr lang="en-IN" dirty="0"/>
              <a:t>7</a:t>
            </a:r>
          </a:p>
        </p:txBody>
      </p:sp>
      <p:pic>
        <p:nvPicPr>
          <p:cNvPr id="12" name="Graphic 201">
            <a:extLst>
              <a:ext uri="{FF2B5EF4-FFF2-40B4-BE49-F238E27FC236}">
                <a16:creationId xmlns:a16="http://schemas.microsoft.com/office/drawing/2014/main" id="{0659B355-C478-E969-BBAF-D341D6E23CD9}"/>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754259A8-7162-1383-AD52-C18300B788C6}"/>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710977A1-00AA-32FC-DE2A-37CDC928124D}"/>
              </a:ext>
            </a:extLst>
          </p:cNvPr>
          <p:cNvSpPr txBox="1"/>
          <p:nvPr/>
        </p:nvSpPr>
        <p:spPr>
          <a:xfrm>
            <a:off x="-253856" y="142633"/>
            <a:ext cx="5979640" cy="523220"/>
          </a:xfrm>
          <a:prstGeom prst="rect">
            <a:avLst/>
          </a:prstGeom>
          <a:noFill/>
        </p:spPr>
        <p:txBody>
          <a:bodyPr wrap="square">
            <a:spAutoFit/>
          </a:bodyPr>
          <a:lstStyle>
            <a:defPPr marR="0" lvl="0" algn="l" rtl="0">
              <a:lnSpc>
                <a:spcPct val="100000"/>
              </a:lnSpc>
              <a:spcBef>
                <a:spcPts val="0"/>
              </a:spcBef>
              <a:spcAft>
                <a:spcPts val="0"/>
              </a:spcAft>
            </a:defPPr>
            <a:lvl1pPr algn="ctr">
              <a:defRPr sz="2800" b="1">
                <a:latin typeface="Times New Roman" panose="02020603050405020304" pitchFamily="18" charset="0"/>
                <a:cs typeface="Times New Roman" panose="02020603050405020304" pitchFamily="18" charset="0"/>
              </a:defRPr>
            </a:lvl1pPr>
          </a:lstStyle>
          <a:p>
            <a:r>
              <a:rPr lang="en-US" dirty="0"/>
              <a:t>RESULTS AND DISCUSSION</a:t>
            </a:r>
            <a:endParaRPr lang="en-IN" dirty="0"/>
          </a:p>
        </p:txBody>
      </p:sp>
      <p:sp>
        <p:nvSpPr>
          <p:cNvPr id="18" name="TextBox 17">
            <a:extLst>
              <a:ext uri="{FF2B5EF4-FFF2-40B4-BE49-F238E27FC236}">
                <a16:creationId xmlns:a16="http://schemas.microsoft.com/office/drawing/2014/main" id="{A5924100-2370-BC23-8797-121A42C2A37A}"/>
              </a:ext>
            </a:extLst>
          </p:cNvPr>
          <p:cNvSpPr txBox="1"/>
          <p:nvPr/>
        </p:nvSpPr>
        <p:spPr>
          <a:xfrm>
            <a:off x="387216" y="4214467"/>
            <a:ext cx="3884839" cy="276999"/>
          </a:xfrm>
          <a:prstGeom prst="rect">
            <a:avLst/>
          </a:prstGeom>
          <a:noFill/>
        </p:spPr>
        <p:txBody>
          <a:bodyPr wrap="square">
            <a:spAutoFit/>
          </a:bodyPr>
          <a:lstStyle/>
          <a:p>
            <a:pPr algn="ctr"/>
            <a:r>
              <a:rPr lang="en-US" sz="1200" spc="-5" dirty="0">
                <a:latin typeface="Times New Roman" panose="02020603050405020304" pitchFamily="18" charset="0"/>
                <a:ea typeface="SimSun" panose="02010600030101010101" pitchFamily="2" charset="-122"/>
              </a:rPr>
              <a:t>Output of available service solutions</a:t>
            </a:r>
            <a:endParaRPr lang="en-IN" sz="1200" spc="-5" dirty="0">
              <a:latin typeface="Times New Roman" panose="02020603050405020304" pitchFamily="18" charset="0"/>
              <a:ea typeface="SimSun" panose="02010600030101010101" pitchFamily="2" charset="-122"/>
            </a:endParaRPr>
          </a:p>
        </p:txBody>
      </p:sp>
      <p:pic>
        <p:nvPicPr>
          <p:cNvPr id="2" name="Picture 1">
            <a:extLst>
              <a:ext uri="{FF2B5EF4-FFF2-40B4-BE49-F238E27FC236}">
                <a16:creationId xmlns:a16="http://schemas.microsoft.com/office/drawing/2014/main" id="{F9DED799-7710-5814-1955-542E5E1A5AEB}"/>
              </a:ext>
            </a:extLst>
          </p:cNvPr>
          <p:cNvPicPr>
            <a:picLocks noChangeAspect="1"/>
          </p:cNvPicPr>
          <p:nvPr/>
        </p:nvPicPr>
        <p:blipFill>
          <a:blip r:embed="rId5"/>
          <a:stretch>
            <a:fillRect/>
          </a:stretch>
        </p:blipFill>
        <p:spPr>
          <a:xfrm>
            <a:off x="848585" y="861915"/>
            <a:ext cx="3088640" cy="972109"/>
          </a:xfrm>
          <a:prstGeom prst="rect">
            <a:avLst/>
          </a:prstGeom>
        </p:spPr>
      </p:pic>
      <p:pic>
        <p:nvPicPr>
          <p:cNvPr id="4" name="Picture 3">
            <a:extLst>
              <a:ext uri="{FF2B5EF4-FFF2-40B4-BE49-F238E27FC236}">
                <a16:creationId xmlns:a16="http://schemas.microsoft.com/office/drawing/2014/main" id="{E39894AC-5093-F129-7DD7-8F0F1E91DE71}"/>
              </a:ext>
            </a:extLst>
          </p:cNvPr>
          <p:cNvPicPr>
            <a:picLocks noChangeAspect="1"/>
          </p:cNvPicPr>
          <p:nvPr/>
        </p:nvPicPr>
        <p:blipFill>
          <a:blip r:embed="rId6"/>
          <a:stretch>
            <a:fillRect/>
          </a:stretch>
        </p:blipFill>
        <p:spPr>
          <a:xfrm>
            <a:off x="785085" y="1832763"/>
            <a:ext cx="3215640" cy="2329790"/>
          </a:xfrm>
          <a:prstGeom prst="rect">
            <a:avLst/>
          </a:prstGeom>
        </p:spPr>
      </p:pic>
      <p:sp>
        <p:nvSpPr>
          <p:cNvPr id="7" name="TextBox 6">
            <a:extLst>
              <a:ext uri="{FF2B5EF4-FFF2-40B4-BE49-F238E27FC236}">
                <a16:creationId xmlns:a16="http://schemas.microsoft.com/office/drawing/2014/main" id="{A07BA086-E37A-46BD-6266-FAC3B4E41693}"/>
              </a:ext>
            </a:extLst>
          </p:cNvPr>
          <p:cNvSpPr txBox="1"/>
          <p:nvPr/>
        </p:nvSpPr>
        <p:spPr>
          <a:xfrm>
            <a:off x="4443669" y="4146618"/>
            <a:ext cx="3884839" cy="276999"/>
          </a:xfrm>
          <a:prstGeom prst="rect">
            <a:avLst/>
          </a:prstGeom>
          <a:noFill/>
        </p:spPr>
        <p:txBody>
          <a:bodyPr wrap="square">
            <a:spAutoFit/>
          </a:bodyPr>
          <a:lstStyle/>
          <a:p>
            <a:pPr algn="ctr"/>
            <a:r>
              <a:rPr lang="en-US" sz="1200" spc="-5" dirty="0">
                <a:latin typeface="Times New Roman" panose="02020603050405020304" pitchFamily="18" charset="0"/>
                <a:ea typeface="SimSun" panose="02010600030101010101" pitchFamily="2" charset="-122"/>
              </a:rPr>
              <a:t>Output of service Provider Recommendation</a:t>
            </a:r>
            <a:endParaRPr lang="en-IN" sz="1200" spc="-5" dirty="0">
              <a:latin typeface="Times New Roman" panose="02020603050405020304" pitchFamily="18" charset="0"/>
              <a:ea typeface="SimSun" panose="02010600030101010101" pitchFamily="2" charset="-122"/>
            </a:endParaRPr>
          </a:p>
        </p:txBody>
      </p:sp>
      <p:pic>
        <p:nvPicPr>
          <p:cNvPr id="11" name="Picture 10">
            <a:extLst>
              <a:ext uri="{FF2B5EF4-FFF2-40B4-BE49-F238E27FC236}">
                <a16:creationId xmlns:a16="http://schemas.microsoft.com/office/drawing/2014/main" id="{1ECAB388-EA0F-75D8-8226-AB1047D8DEC3}"/>
              </a:ext>
            </a:extLst>
          </p:cNvPr>
          <p:cNvPicPr>
            <a:picLocks noChangeAspect="1"/>
          </p:cNvPicPr>
          <p:nvPr/>
        </p:nvPicPr>
        <p:blipFill>
          <a:blip r:embed="rId7"/>
          <a:stretch>
            <a:fillRect/>
          </a:stretch>
        </p:blipFill>
        <p:spPr>
          <a:xfrm>
            <a:off x="4500891" y="861914"/>
            <a:ext cx="3854027" cy="3268769"/>
          </a:xfrm>
          <a:prstGeom prst="rect">
            <a:avLst/>
          </a:prstGeom>
        </p:spPr>
      </p:pic>
    </p:spTree>
    <p:extLst>
      <p:ext uri="{BB962C8B-B14F-4D97-AF65-F5344CB8AC3E}">
        <p14:creationId xmlns:p14="http://schemas.microsoft.com/office/powerpoint/2010/main" val="369158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49E700B6-BBF0-D64C-BCF8-EC8839A35AC8}"/>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25F7A2B-403C-77C6-E363-D60E107650D2}"/>
              </a:ext>
            </a:extLst>
          </p:cNvPr>
          <p:cNvSpPr>
            <a:spLocks noGrp="1"/>
          </p:cNvSpPr>
          <p:nvPr>
            <p:ph type="sldNum" sz="quarter" idx="11"/>
          </p:nvPr>
        </p:nvSpPr>
        <p:spPr>
          <a:xfrm>
            <a:off x="5978972" y="4754421"/>
            <a:ext cx="2057400" cy="274637"/>
          </a:xfrm>
        </p:spPr>
        <p:txBody>
          <a:bodyPr/>
          <a:lstStyle/>
          <a:p>
            <a:r>
              <a:rPr lang="en-IN" dirty="0"/>
              <a:t>8</a:t>
            </a:r>
          </a:p>
        </p:txBody>
      </p:sp>
      <p:pic>
        <p:nvPicPr>
          <p:cNvPr id="12" name="Graphic 201">
            <a:extLst>
              <a:ext uri="{FF2B5EF4-FFF2-40B4-BE49-F238E27FC236}">
                <a16:creationId xmlns:a16="http://schemas.microsoft.com/office/drawing/2014/main" id="{44C71416-3A3B-26EB-A62B-C377E53F3095}"/>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4A915C57-E875-B41A-5E5B-95B15F480665}"/>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89969A19-AB7A-DC00-7980-16B061AF2558}"/>
              </a:ext>
            </a:extLst>
          </p:cNvPr>
          <p:cNvSpPr txBox="1"/>
          <p:nvPr/>
        </p:nvSpPr>
        <p:spPr>
          <a:xfrm>
            <a:off x="-1103128" y="316244"/>
            <a:ext cx="597964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0F7CF4-9A36-6BFF-2F75-B8F70303DA66}"/>
              </a:ext>
            </a:extLst>
          </p:cNvPr>
          <p:cNvSpPr txBox="1"/>
          <p:nvPr/>
        </p:nvSpPr>
        <p:spPr>
          <a:xfrm>
            <a:off x="636568" y="910809"/>
            <a:ext cx="8065170" cy="300274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AI-powered image recognition system quickly detects faulty home components using advanced machine learning algorithms.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Users can upload images of damaged parts, and the system automatically analyzes and provides accurate repair recommendations.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If a repair cannot be done independently, the system connects users with top-rated service providers for professional assistance.</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automated diagnostics streamline the repair process, reducing overall repair time and minimizing unnecessary costs.</a:t>
            </a:r>
          </a:p>
        </p:txBody>
      </p:sp>
    </p:spTree>
    <p:extLst>
      <p:ext uri="{BB962C8B-B14F-4D97-AF65-F5344CB8AC3E}">
        <p14:creationId xmlns:p14="http://schemas.microsoft.com/office/powerpoint/2010/main" val="25901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3BC416C7-EA3F-6162-0EE7-E8CC72483B1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E7A417C-AE71-8780-95C1-02F24F7A4B80}"/>
              </a:ext>
            </a:extLst>
          </p:cNvPr>
          <p:cNvSpPr>
            <a:spLocks noGrp="1"/>
          </p:cNvSpPr>
          <p:nvPr>
            <p:ph type="sldNum" sz="quarter" idx="11"/>
          </p:nvPr>
        </p:nvSpPr>
        <p:spPr>
          <a:xfrm>
            <a:off x="5978972" y="4754421"/>
            <a:ext cx="2057400" cy="274637"/>
          </a:xfrm>
        </p:spPr>
        <p:txBody>
          <a:bodyPr/>
          <a:lstStyle/>
          <a:p>
            <a:r>
              <a:rPr lang="en-IN" dirty="0"/>
              <a:t>9</a:t>
            </a:r>
          </a:p>
        </p:txBody>
      </p:sp>
      <p:pic>
        <p:nvPicPr>
          <p:cNvPr id="12" name="Graphic 201">
            <a:extLst>
              <a:ext uri="{FF2B5EF4-FFF2-40B4-BE49-F238E27FC236}">
                <a16:creationId xmlns:a16="http://schemas.microsoft.com/office/drawing/2014/main" id="{63FE3927-BA0E-AE30-D1F1-2004553C13BD}"/>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13E7D44A-DDE2-C32C-D5DA-264AEAF93498}"/>
              </a:ext>
            </a:extLst>
          </p:cNvPr>
          <p:cNvPicPr>
            <a:picLocks noChangeAspect="1"/>
          </p:cNvPicPr>
          <p:nvPr/>
        </p:nvPicPr>
        <p:blipFill>
          <a:blip r:embed="rId4"/>
          <a:srcRect/>
          <a:stretch/>
        </p:blipFill>
        <p:spPr>
          <a:xfrm>
            <a:off x="76355" y="4530792"/>
            <a:ext cx="1810337" cy="447257"/>
          </a:xfrm>
          <a:prstGeom prst="rect">
            <a:avLst/>
          </a:prstGeom>
        </p:spPr>
      </p:pic>
      <p:sp>
        <p:nvSpPr>
          <p:cNvPr id="3" name="TextBox 2">
            <a:extLst>
              <a:ext uri="{FF2B5EF4-FFF2-40B4-BE49-F238E27FC236}">
                <a16:creationId xmlns:a16="http://schemas.microsoft.com/office/drawing/2014/main" id="{54308FA3-6ABE-A730-791F-7F5CB4FD3A84}"/>
              </a:ext>
            </a:extLst>
          </p:cNvPr>
          <p:cNvSpPr txBox="1"/>
          <p:nvPr/>
        </p:nvSpPr>
        <p:spPr>
          <a:xfrm>
            <a:off x="-1224884" y="165451"/>
            <a:ext cx="597964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REFERENCES</a:t>
            </a:r>
            <a:endParaRPr lang="en-IN" sz="2800" dirty="0">
              <a:latin typeface="Calibri Light (Headings)"/>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629A690-DDBD-B86E-8D6B-9A5D847F4449}"/>
              </a:ext>
            </a:extLst>
          </p:cNvPr>
          <p:cNvSpPr txBox="1"/>
          <p:nvPr/>
        </p:nvSpPr>
        <p:spPr>
          <a:xfrm>
            <a:off x="520031" y="933400"/>
            <a:ext cx="8469451" cy="2264081"/>
          </a:xfrm>
          <a:prstGeom prst="rect">
            <a:avLst/>
          </a:prstGeom>
          <a:noFill/>
        </p:spPr>
        <p:txBody>
          <a:bodyPr wrap="square">
            <a:spAutoFit/>
          </a:bodyPr>
          <a:lstStyle/>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[1] Kong Dali, Cui Yang. Researches Status and Develop Direction of Digital Image Processing Technology.</a:t>
            </a:r>
          </a:p>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[2] Various Authors, "Applications of AI in Home Maintenance Services," Journal of Emerging Computer Applications, 2023.</a:t>
            </a:r>
          </a:p>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[3] Google AI Team, "Speech Recognition and Chatbot Integration," Research Paper, 2022.</a:t>
            </a:r>
          </a:p>
          <a:p>
            <a:pPr marL="400050" indent="-400050" algn="just">
              <a:lnSpc>
                <a:spcPct val="150000"/>
              </a:lnSpc>
              <a:buFont typeface="+mj-lt"/>
              <a:buAutoNum type="romanUcPeriod"/>
            </a:pPr>
            <a:r>
              <a:rPr lang="en-US" sz="1600" dirty="0">
                <a:latin typeface="Times New Roman" panose="02020603050405020304" pitchFamily="18" charset="0"/>
                <a:cs typeface="Times New Roman" panose="02020603050405020304" pitchFamily="18" charset="0"/>
              </a:rPr>
              <a:t>[4] Industry Reports, "Digital Transformation in Home Services," 2021.</a:t>
            </a:r>
          </a:p>
        </p:txBody>
      </p:sp>
    </p:spTree>
    <p:extLst>
      <p:ext uri="{BB962C8B-B14F-4D97-AF65-F5344CB8AC3E}">
        <p14:creationId xmlns:p14="http://schemas.microsoft.com/office/powerpoint/2010/main" val="4103510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a:extLst>
            <a:ext uri="{FF2B5EF4-FFF2-40B4-BE49-F238E27FC236}">
              <a16:creationId xmlns:a16="http://schemas.microsoft.com/office/drawing/2014/main" id="{8F6E14C4-B622-7D8A-A391-ED45363A9DD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1B9DC512-FE8E-380E-45D1-C4B506F5480B}"/>
              </a:ext>
            </a:extLst>
          </p:cNvPr>
          <p:cNvSpPr>
            <a:spLocks noGrp="1"/>
          </p:cNvSpPr>
          <p:nvPr>
            <p:ph type="sldNum" sz="quarter" idx="11"/>
          </p:nvPr>
        </p:nvSpPr>
        <p:spPr>
          <a:xfrm>
            <a:off x="5978972" y="4754421"/>
            <a:ext cx="2057400" cy="274637"/>
          </a:xfrm>
        </p:spPr>
        <p:txBody>
          <a:bodyPr/>
          <a:lstStyle/>
          <a:p>
            <a:r>
              <a:rPr lang="en-IN" dirty="0"/>
              <a:t>10</a:t>
            </a:r>
          </a:p>
        </p:txBody>
      </p:sp>
      <p:pic>
        <p:nvPicPr>
          <p:cNvPr id="12" name="Graphic 201">
            <a:extLst>
              <a:ext uri="{FF2B5EF4-FFF2-40B4-BE49-F238E27FC236}">
                <a16:creationId xmlns:a16="http://schemas.microsoft.com/office/drawing/2014/main" id="{1F57DC23-05EC-0ACE-E16C-27DEB90039D9}"/>
              </a:ext>
            </a:extLst>
          </p:cNvPr>
          <p:cNvPicPr/>
          <p:nvPr/>
        </p:nvPicPr>
        <p:blipFill>
          <a:blip r:embed="rId3"/>
          <a:srcRect/>
          <a:stretch/>
        </p:blipFill>
        <p:spPr>
          <a:xfrm>
            <a:off x="8094133" y="4439551"/>
            <a:ext cx="895349" cy="625405"/>
          </a:xfrm>
          <a:prstGeom prst="rect">
            <a:avLst/>
          </a:prstGeom>
        </p:spPr>
      </p:pic>
      <p:pic>
        <p:nvPicPr>
          <p:cNvPr id="16" name="Picture 15">
            <a:extLst>
              <a:ext uri="{FF2B5EF4-FFF2-40B4-BE49-F238E27FC236}">
                <a16:creationId xmlns:a16="http://schemas.microsoft.com/office/drawing/2014/main" id="{E11D53D3-D422-9576-F5DA-99CB820215E9}"/>
              </a:ext>
            </a:extLst>
          </p:cNvPr>
          <p:cNvPicPr>
            <a:picLocks noChangeAspect="1"/>
          </p:cNvPicPr>
          <p:nvPr/>
        </p:nvPicPr>
        <p:blipFill>
          <a:blip r:embed="rId4"/>
          <a:srcRect/>
          <a:stretch/>
        </p:blipFill>
        <p:spPr>
          <a:xfrm>
            <a:off x="76355" y="4530792"/>
            <a:ext cx="1810337" cy="447257"/>
          </a:xfrm>
          <a:prstGeom prst="rect">
            <a:avLst/>
          </a:prstGeom>
        </p:spPr>
      </p:pic>
      <p:sp>
        <p:nvSpPr>
          <p:cNvPr id="2" name="TextBox 1">
            <a:extLst>
              <a:ext uri="{FF2B5EF4-FFF2-40B4-BE49-F238E27FC236}">
                <a16:creationId xmlns:a16="http://schemas.microsoft.com/office/drawing/2014/main" id="{AD250850-0002-9189-64D1-7521463FE6DE}"/>
              </a:ext>
            </a:extLst>
          </p:cNvPr>
          <p:cNvSpPr txBox="1"/>
          <p:nvPr/>
        </p:nvSpPr>
        <p:spPr>
          <a:xfrm>
            <a:off x="1638425" y="1882993"/>
            <a:ext cx="6322979" cy="769441"/>
          </a:xfrm>
          <a:prstGeom prst="rect">
            <a:avLst/>
          </a:prstGeom>
          <a:noFill/>
        </p:spPr>
        <p:txBody>
          <a:bodyPr wrap="square" rtlCol="0">
            <a:spAutoFit/>
          </a:bodyPr>
          <a:lstStyle/>
          <a:p>
            <a:pPr algn="ctr"/>
            <a:r>
              <a:rPr lang="en-US" sz="4400" i="1" dirty="0">
                <a:solidFill>
                  <a:srgbClr val="FF0000"/>
                </a:solidFill>
                <a:latin typeface="Times New Roman" panose="02020603050405020304" pitchFamily="18" charset="0"/>
                <a:cs typeface="Times New Roman" panose="02020603050405020304" pitchFamily="18" charset="0"/>
              </a:rPr>
              <a:t>THANK YOU</a:t>
            </a:r>
            <a:endParaRPr lang="en-IN" sz="4400"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8444599"/>
      </p:ext>
    </p:extLst>
  </p:cSld>
  <p:clrMapOvr>
    <a:masterClrMapping/>
  </p:clrMapOvr>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908269"/>
      </a:accent1>
      <a:accent2>
        <a:srgbClr val="212121"/>
      </a:accent2>
      <a:accent3>
        <a:srgbClr val="CFC3AC"/>
      </a:accent3>
      <a:accent4>
        <a:srgbClr val="976E26"/>
      </a:accent4>
      <a:accent5>
        <a:srgbClr val="927D59"/>
      </a:accent5>
      <a:accent6>
        <a:srgbClr val="584F3E"/>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5118</TotalTime>
  <Words>675</Words>
  <Application>Microsoft Office PowerPoint</Application>
  <PresentationFormat>On-screen Show (16:9)</PresentationFormat>
  <Paragraphs>73</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Catamaran Light</vt:lpstr>
      <vt:lpstr>Times New Roman</vt:lpstr>
      <vt:lpstr>Livvic</vt:lpstr>
      <vt:lpstr>Arial</vt:lpstr>
      <vt:lpstr>Calibri Light (Headings)</vt:lpstr>
      <vt:lpstr>Engineering Project Proposal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Saha Hastham Exam Scribe Finder For The Needy</dc:title>
  <dc:creator>Govind</dc:creator>
  <cp:lastModifiedBy>Mathew Peter</cp:lastModifiedBy>
  <cp:revision>81</cp:revision>
  <dcterms:modified xsi:type="dcterms:W3CDTF">2025-03-23T09:02:04Z</dcterms:modified>
</cp:coreProperties>
</file>